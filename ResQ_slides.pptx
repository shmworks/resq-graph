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Amatic SC"/>
      <p:regular r:id="rId19"/>
      <p:bold r:id="rId20"/>
    </p:embeddedFont>
    <p:embeddedFont>
      <p:font typeface="Source Code Pr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CA61D3-7050-403B-96F1-D428DD83483B}">
  <a:tblStyle styleId="{9ECA61D3-7050-403B-96F1-D428DD8348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bold.fntdata"/><Relationship Id="rId11" Type="http://schemas.openxmlformats.org/officeDocument/2006/relationships/slide" Target="slides/slide4.xml"/><Relationship Id="rId22" Type="http://schemas.openxmlformats.org/officeDocument/2006/relationships/font" Target="fonts/SourceCodePro-bold.fntdata"/><Relationship Id="rId10" Type="http://schemas.openxmlformats.org/officeDocument/2006/relationships/slide" Target="slides/slide3.xml"/><Relationship Id="rId21" Type="http://schemas.openxmlformats.org/officeDocument/2006/relationships/font" Target="fonts/SourceCodePro-regular.fntdata"/><Relationship Id="rId13" Type="http://schemas.openxmlformats.org/officeDocument/2006/relationships/slide" Target="slides/slide6.xml"/><Relationship Id="rId24" Type="http://schemas.openxmlformats.org/officeDocument/2006/relationships/font" Target="fonts/SourceCodePro-boldItalic.fntdata"/><Relationship Id="rId12" Type="http://schemas.openxmlformats.org/officeDocument/2006/relationships/slide" Target="slides/slide5.xml"/><Relationship Id="rId23" Type="http://schemas.openxmlformats.org/officeDocument/2006/relationships/font" Target="fonts/SourceCodePr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AmaticSC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07d197055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07d197055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e07d197055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7d197055_2_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07d197055_2_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07d197055_2_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07d197055_0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07d197055_0_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07d197055_0_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7d197055_2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07d197055_2_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07d197055_2_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7d197055_2_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e07d197055_2_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07d197055_2_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07d197055_2_1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07d197055_2_1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07d197055_2_1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7d197055_0_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e07d197055_0_9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07d197055_0_9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07d197055_2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e07d197055_2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07d197055_2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07d197055_0_1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07d197055_0_1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07d197055_0_1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07d197055_2_1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07d197055_2_1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07d197055_2_1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07d197055_2_1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e07d197055_2_1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07d197055_2_1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8640" y="822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ResQ-Graph</a:t>
            </a:r>
            <a:r>
              <a:rPr b="1" i="0" lang="en" sz="5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48640" y="17830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Agent-Based Emergency Ambulance Dispatch Simulation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with AI-Optimised Fleet Placement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48640" y="2743200"/>
            <a:ext cx="969264" cy="292608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548640" y="2743200"/>
            <a:ext cx="969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655064" y="2743200"/>
            <a:ext cx="1170432" cy="292608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1655064" y="2743200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NetworkX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962656" y="2743200"/>
            <a:ext cx="969264" cy="292608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2962656" y="2743200"/>
            <a:ext cx="969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Pygame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069080" y="2743200"/>
            <a:ext cx="1773936" cy="292608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069080" y="2743200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A* Pathfinding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980176" y="2743200"/>
            <a:ext cx="1069848" cy="292608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980176" y="2743200"/>
            <a:ext cx="1069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HDBSCAN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48659" y="3293400"/>
            <a:ext cx="2075700" cy="2925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548659" y="3293400"/>
            <a:ext cx="207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Genetic Algorithm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48640" y="431906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FAST-NUCES Lahore  |  </a:t>
            </a:r>
            <a:r>
              <a:rPr lang="en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r>
              <a:rPr b="0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|  May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48650" y="16461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74740" y="869655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ResQ-Graph?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07500" y="1443574"/>
            <a:ext cx="4114800" cy="15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ResQ-Graph is an agent-based simulation that models ambulances navigating a real city road network to respond to dynamically generated emergencies. It uses A* pathfinding, custom HDBSCAN clustering, and a Genetic Algorithm to intelligently place stations and dispatch the nearest ambulance in real time.</a:t>
            </a:r>
            <a:endParaRPr b="0" i="0" sz="125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48640" y="2805695"/>
            <a:ext cx="1261800" cy="7773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48640" y="2805695"/>
            <a:ext cx="45600" cy="777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621792" y="2833127"/>
            <a:ext cx="1143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798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21792" y="3189743"/>
            <a:ext cx="11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Road 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920240" y="2805695"/>
            <a:ext cx="1261800" cy="7773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920240" y="2805695"/>
            <a:ext cx="45600" cy="777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993392" y="2833127"/>
            <a:ext cx="1143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993392" y="3189743"/>
            <a:ext cx="11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291840" y="2805695"/>
            <a:ext cx="1261800" cy="7773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291840" y="2805695"/>
            <a:ext cx="45600" cy="777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364992" y="2833127"/>
            <a:ext cx="1143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364992" y="3189743"/>
            <a:ext cx="11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48690" y="3957465"/>
            <a:ext cx="80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53150" y="4434725"/>
            <a:ext cx="8189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Random ambulance station placement leaves large areas uncovered and increases response times — ResQ-Graph proves that AI-optimised placement reduces Average Response Time by 11.8% (p=0.001).</a:t>
            </a:r>
            <a:endParaRPr sz="12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937760" y="960120"/>
            <a:ext cx="3840480" cy="288036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937760" y="960120"/>
            <a:ext cx="384048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[Optimal Stations Map]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GA-optimised stations (stars) vs random placement (circles)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0" y="960125"/>
            <a:ext cx="3846269" cy="28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4934850" y="495150"/>
            <a:ext cx="384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Optimal Stations (Derived through GA)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8046720" y="4892040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48640" y="164592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48640" y="411480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548640" y="1005840"/>
            <a:ext cx="384060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548640" y="1005840"/>
            <a:ext cx="456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76656" y="1005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Simulation Engine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Tick-based loop orchestrating all subsystems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48640" y="2011680"/>
            <a:ext cx="384060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48640" y="2011680"/>
            <a:ext cx="456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76656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Traffic Model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Dynamic edge congestion based on event density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548640" y="3017520"/>
            <a:ext cx="384060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48640" y="3017520"/>
            <a:ext cx="456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676656" y="3017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Dispatcher Brain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O(1) nearest-idle assignment via distance matrix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548640" y="4023360"/>
            <a:ext cx="384060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48640" y="4023360"/>
            <a:ext cx="456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76656" y="4023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Genetic Algorithm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Traffic-aware station placement optimiser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937760" y="320040"/>
            <a:ext cx="384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[GA Convergence Plot]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Fitness convergence over 100 generations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33350"/>
            <a:ext cx="4406949" cy="41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4864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48640" y="1508760"/>
            <a:ext cx="384048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48640" y="150876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76656" y="15087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A* Pathfinding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Haversine heuristic with traffic-aware rerouting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48640" y="2514600"/>
            <a:ext cx="384048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48640" y="251460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76656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Event Spawner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Poisson-distributed emergency generation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48640" y="3520440"/>
            <a:ext cx="384048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548640" y="352044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676656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HDBSCAN Clustering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Custom from-scratch hotspot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48640" y="4526280"/>
            <a:ext cx="384048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76656" y="4526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Pygame Renderer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Real-time visualisation with cached sprites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48640" y="461772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275" y="411475"/>
            <a:ext cx="4212350" cy="44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4864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Design &amp; Algorithms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48640" y="10058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Experimental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48640" y="1353312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Baseline: </a:t>
            </a: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 runs × 1000 ticks, random station placement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Fleet: </a:t>
            </a: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 runs × 1000 ticks, GA-optimised stations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 parity: </a:t>
            </a: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Identical event seeds for fair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Metric: </a:t>
            </a: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Average Response Time (arrival_tick − spawn_tick)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48640" y="24231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48640" y="2743200"/>
            <a:ext cx="402336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48640" y="274320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676656" y="27432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A* Pathfinding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Haversine heuristic, traffic-aware dynamic rerouting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48640" y="324612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76656" y="3246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HDBSCAN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Hierarchical density clustering — finds emergency hotspots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48640" y="3749040"/>
            <a:ext cx="402336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48640" y="374904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76656" y="3749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Genetic Algorithm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Station placement optimiser, fitness = inverse ART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48640" y="4251960"/>
            <a:ext cx="4023360" cy="457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48640" y="4251960"/>
            <a:ext cx="4572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676656" y="42519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Dispatcher 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O(1) nearest-idle via </a:t>
            </a:r>
            <a:r>
              <a:rPr lang="en" sz="11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precomputed</a:t>
            </a:r>
            <a:r>
              <a:rPr b="0" i="0" lang="en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distance matrix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937760" y="1005840"/>
            <a:ext cx="3840480" cy="34290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4937760" y="1005840"/>
            <a:ext cx="38404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[Station Placement Comparison]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vs random placement side-by-side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0" y="1005850"/>
            <a:ext cx="3840501" cy="34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4864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vs Random Baseline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65760" y="1005840"/>
            <a:ext cx="246888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365760" y="100584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475488" y="106070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25.81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75488" y="1463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Baseline Mean ART (ticks)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337560" y="1005840"/>
            <a:ext cx="246888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3337560" y="100584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3447288" y="106070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22.77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Fleet Mean ART (ticks)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309360" y="1005840"/>
            <a:ext cx="246888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6309360" y="100584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419088" y="106070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+11.8%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419088" y="1463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ART Improvement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65760" y="2194563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Statistical Significance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754880" y="1965960"/>
            <a:ext cx="4023360" cy="29260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754880" y="1965960"/>
            <a:ext cx="4023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[ART per Run Time-series]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fleet consistently outperforms baseline across all 10 runs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875" y="1965975"/>
            <a:ext cx="4114799" cy="2926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2" name="Google Shape;202;p20"/>
          <p:cNvGraphicFramePr/>
          <p:nvPr/>
        </p:nvGraphicFramePr>
        <p:xfrm>
          <a:off x="365760" y="2514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{9ECA61D3-7050-403B-96F1-D428DD83483B}</a:tableStyleId>
              </a:tblPr>
              <a:tblGrid>
                <a:gridCol w="2560325"/>
                <a:gridCol w="15544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Paired t-statistic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4.6855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Cohen's d (effect size)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1.54 (large)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 (α=0.05)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8046720" y="4892040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48640" y="164592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2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48650" y="783525"/>
            <a:ext cx="7950000" cy="39462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783525"/>
            <a:ext cx="7949999" cy="392554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4864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SENSITIVITY &amp;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&amp; Optimisation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65760" y="1005840"/>
            <a:ext cx="4023360" cy="150876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365760" y="1005840"/>
            <a:ext cx="40233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[Fleet Size Sensitivity]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 vs fleet size — sweet spot at 7 ambulances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65760" y="2606040"/>
            <a:ext cx="4023360" cy="150876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365760" y="2606040"/>
            <a:ext cx="40233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[Lambda Sensitivity]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 vs event rate — AI advantage holds under normal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Optimal Parameters (215-run sweep)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22"/>
          <p:cNvGraphicFramePr/>
          <p:nvPr/>
        </p:nvGraphicFramePr>
        <p:xfrm>
          <a:off x="475488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{9ECA61D3-7050-403B-96F1-D428DD83483B}</a:tableStyleId>
              </a:tblPr>
              <a:tblGrid>
                <a:gridCol w="1371600"/>
                <a:gridCol w="1188725"/>
                <a:gridCol w="155447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Fleet Size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ambulances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cost-to-performance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HDBSCAN cluster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vs sample balance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Rebalance interval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ticks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Keeps fleet agile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Fleet 3→5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~40% ART reduction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2"/>
          <p:cNvSpPr/>
          <p:nvPr/>
        </p:nvSpPr>
        <p:spPr>
          <a:xfrm>
            <a:off x="4843555" y="3268918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Sprint 12: Performance Benchmarks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4754880" y="3700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{9ECA61D3-7050-403B-96F1-D428DD83483B}</a:tableStyleId>
              </a:tblPr>
              <a:tblGrid>
                <a:gridCol w="1554475"/>
                <a:gridCol w="1188725"/>
                <a:gridCol w="13716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 </a:t>
                      </a:r>
                      <a:r>
                        <a:rPr lang="en" sz="105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</a:t>
                      </a: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call 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4.81 ms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&lt;50 ms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Renderer FPS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86.4 FPS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≥60 FPS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10K-tick scaling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&lt;10 min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  <p:pic>
        <p:nvPicPr>
          <p:cNvPr id="230" name="Google Shape;2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005850"/>
            <a:ext cx="4023374" cy="310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8046720" y="4892040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48640" y="164592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SENSITIVITY &amp;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48640" y="411480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&amp; Optimisation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65760" y="1005840"/>
            <a:ext cx="4023300" cy="15087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365760" y="1005840"/>
            <a:ext cx="40233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[Fleet Size Sensitivity]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 vs fleet size — sweet spot at 7 ambulances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365760" y="2606040"/>
            <a:ext cx="4023300" cy="150870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365760" y="2606040"/>
            <a:ext cx="40233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[Lambda Sensitivity]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 vs event rate — AI advantage holds under normal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4754880" y="96012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Optimal Parameters (215-run sweep)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23"/>
          <p:cNvGraphicFramePr/>
          <p:nvPr/>
        </p:nvGraphicFramePr>
        <p:xfrm>
          <a:off x="475488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{9ECA61D3-7050-403B-96F1-D428DD83483B}</a:tableStyleId>
              </a:tblPr>
              <a:tblGrid>
                <a:gridCol w="1371600"/>
                <a:gridCol w="1188725"/>
                <a:gridCol w="155447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Fleet Size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ambulances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cost-to-performance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HDBSCAN cluster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vs sample balance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Rebalance interval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ticks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Keeps fleet agile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Fleet 3→5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~40% ART reduction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23"/>
          <p:cNvSpPr/>
          <p:nvPr/>
        </p:nvSpPr>
        <p:spPr>
          <a:xfrm>
            <a:off x="4843555" y="3268918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Sprint 12: Performance Benchmarks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3"/>
          <p:cNvGraphicFramePr/>
          <p:nvPr/>
        </p:nvGraphicFramePr>
        <p:xfrm>
          <a:off x="4754880" y="3700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{9ECA61D3-7050-403B-96F1-D428DD83483B}</a:tableStyleId>
              </a:tblPr>
              <a:tblGrid>
                <a:gridCol w="1554475"/>
                <a:gridCol w="1188725"/>
                <a:gridCol w="13716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 </a:t>
                      </a:r>
                      <a:r>
                        <a:rPr lang="en" sz="1050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</a:t>
                      </a: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call 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4.81 ms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&lt;50 ms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Renderer FPS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86.4 FPS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≥60 FPS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10K-tick scaling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&lt;10 min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  <p:pic>
        <p:nvPicPr>
          <p:cNvPr id="248" name="Google Shape;2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005850"/>
            <a:ext cx="4023299" cy="31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4864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SYSTEM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Known Limitations &amp; Trade-offs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11480" y="1060704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411480" y="10607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22960" y="1005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Map Topology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22960" y="12801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Only tested on Model Town — not validated on other cities or real-world OSM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11480" y="1929384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411480" y="19293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822960" y="1874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Uniform Poisson Events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822960" y="21488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 demand has spatial/temporal patterns; our model assumes uniform random distribution.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411480" y="2798064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411480" y="27980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822960" y="2743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Constant Speed Movement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822960" y="30175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acceleration, braking, or traffic signal delays — ambulances move one edge per tick.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11480" y="3666744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411480" y="36667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822960" y="3611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Hospital Transport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822960" y="38862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Ambulances return to base after scene — no patient handoff or hospital routing modelled.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4754880" y="1060704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4754880" y="10607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516636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Single-Objective GA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5166360" y="12801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 uses simple fitness function — no multi-criteria optimisation (cost, coverage, equity).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754880" y="1929384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4754880" y="19293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166360" y="1874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Precomputed</a:t>
            </a: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Distance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5166360" y="21488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Static distance matrix for dispatch doesn't reflect live congestion conditions.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4754880" y="28346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4754880" y="315468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Multi-city graph support &amp; real-world OSM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Reinforcement learning for dynamic dispatch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Hospital routing, capacity modelling &amp; patient handoff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Mobile companion for field paramedic teams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r>
              <a:rPr b="1" i="0" lang="en" sz="6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2103120"/>
            <a:ext cx="182880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571500" y="210312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644652" y="213969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+11.8%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644652" y="25328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ART Improvement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2628900" y="2103120"/>
            <a:ext cx="182880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2628900" y="210312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2702052" y="213969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p=0.001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2702052" y="25328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Significance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4686300" y="2103120"/>
            <a:ext cx="182880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4686300" y="210312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4759452" y="213969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4.81ms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4759452" y="25328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A* Pathfinding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743700" y="2103120"/>
            <a:ext cx="1828800" cy="868680"/>
          </a:xfrm>
          <a:prstGeom prst="rect">
            <a:avLst/>
          </a:prstGeom>
          <a:solidFill>
            <a:srgbClr val="1620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6743700" y="2103120"/>
            <a:ext cx="45720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6816852" y="213969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86 FPS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6816852" y="25328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Renderer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ResQ-Graph  —  12 Sprints  ·  798 Nodes  ·  224 Tests  ·  215-Run Sweep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457200" y="345643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FAST-NUCES Lahore  |  </a:t>
            </a:r>
            <a:r>
              <a:rPr lang="en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|  May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